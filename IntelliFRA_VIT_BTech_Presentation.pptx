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B4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1B4D"/>
                </a:solidFill>
                <a:latin typeface="Calibri"/>
              </a:rPr>
              <a:t>Accuracy comparison (sample data –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B9B6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B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B6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6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B6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9318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Method A</c:v>
                  </c:pt>
                  <c:pt idx="1">
                    <c:v>Method B</c:v>
                  </c:pt>
                  <c:pt idx="2">
                    <c:v>Method C</c:v>
                  </c:pt>
                  <c:pt idx="3">
                    <c:v>Proposed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82</c:v>
                </c:pt>
                <c:pt idx="2">
                  <c:v>85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B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4520"/>
            <a:ext cx="9144000" cy="3268980"/>
          </a:xfrm>
          <a:prstGeom prst="rect">
            <a:avLst/>
          </a:prstGeom>
          <a:solidFill>
            <a:srgbClr val="393185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057400"/>
            <a:ext cx="82296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of the Project</a:t>
            </a: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9318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749040" y="182880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F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1F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text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Final Year Project  |  Department of Information Technology, VIT Mumbai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TWO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39319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754880" y="1005840"/>
            <a:ext cx="39319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column</a:t>
            </a:r>
            <a:endParaRPr lang="en-US" sz="1500" dirty="0"/>
          </a:p>
        </p:txBody>
      </p:sp>
      <p:sp>
        <p:nvSpPr>
          <p:cNvPr id="6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Final Year Project  |  Department of Information Technology, VIT Mumbai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Final Year Project  |  Department of Information Technology, VIT Mumbai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T_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2880"/>
            <a:ext cx="1325880" cy="369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393185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0574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1B365D"/>
                </a:solidFill>
                <a:latin typeface="Cambria"/>
              </a:defRPr>
            </a:pPr>
            <a:r>
              <a:t>IntelliFRA: An AI-Based Platform for Automated Transformer Fault Analysis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latin typeface="Calibri"/>
              </a:defRPr>
            </a:pPr>
            <a:r>
              <a:t>B.Tech. Final Year Project Presentation  |  Academic Year 2024–25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latin typeface="Calibri"/>
              </a:defRPr>
            </a:pPr>
            <a:r>
              <a:t>Stage: Final Review / Project Defense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56432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  <a:defRPr sz="1300">
                <a:solidFill>
                  <a:srgbClr val="222222"/>
                </a:solidFill>
                <a:latin typeface="Calibri"/>
              </a:defRPr>
            </a:pPr>
            <a:r>
              <a:t>Harini Panigrahi</a:t>
            </a:r>
            <a:endParaRPr lang="en-US" sz="1400" dirty="0"/>
          </a:p>
          <a:p>
            <a:pPr>
              <a:defRPr sz="1300">
                <a:solidFill>
                  <a:srgbClr val="222222"/>
                </a:solidFill>
                <a:latin typeface="Calibri"/>
              </a:defRPr>
            </a:pPr>
            <a:r>
              <a:t>Neha Verma</a:t>
            </a:r>
          </a:p>
          <a:p>
            <a:pPr>
              <a:defRPr sz="1300">
                <a:solidFill>
                  <a:srgbClr val="222222"/>
                </a:solidFill>
                <a:latin typeface="Calibri"/>
              </a:defRPr>
            </a:pPr>
            <a:r>
              <a:t>Prapti Bhayde</a:t>
            </a:r>
          </a:p>
          <a:p>
            <a:pPr>
              <a:defRPr sz="1300">
                <a:solidFill>
                  <a:srgbClr val="222222"/>
                </a:solidFill>
                <a:latin typeface="Calibri"/>
              </a:defRPr>
            </a:pPr>
            <a:r>
              <a:t>Yooraj Gole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12064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Prof. Bhanu Tekwani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512064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200">
                <a:latin typeface="Calibri"/>
              </a:defRPr>
            </a:pPr>
            <a:r>
              <a:t>Vidyalankar Institute of Technology, Wadala,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05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819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157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7340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8862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1005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1581912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15819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2157984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2157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54880" y="2734056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27340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754880" y="3310128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5488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754880" y="3886200"/>
            <a:ext cx="402336" cy="402336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0" y="38862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74904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this slide to introduce each major part of the talk.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b="1">
                <a:solidFill>
                  <a:srgbClr val="1B365D"/>
                </a:solidFill>
                <a:latin typeface="Calibri"/>
              </a:rPr>
              <a:t>Critical Grid Infrastructure: </a:t>
            </a:r>
            <a:r>
              <a:rPr sz="1250">
                <a:solidFill>
                  <a:srgbClr val="333333"/>
                </a:solidFill>
                <a:latin typeface="Calibri"/>
              </a:rPr>
              <a:t>High-voltage power transformers are irreplaceable grid nodes; unexpected internal mechanical failures cause prolonged outages and multimillion-dollar losses.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Sweep Frequency Response Analysis (SFRA): </a:t>
            </a:r>
            <a:r>
              <a:rPr sz="1250">
                <a:solidFill>
                  <a:srgbClr val="333333"/>
                </a:solidFill>
                <a:latin typeface="Calibri"/>
              </a:rPr>
              <a:t>Standardized under IEC 60076-18 as the premier non-intrusive electrical test for detecting internal core/winding mechanical deformation.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Operational Bottleneck: </a:t>
            </a:r>
            <a:r>
              <a:rPr sz="1250">
                <a:solidFill>
                  <a:srgbClr val="333333"/>
                </a:solidFill>
                <a:latin typeface="Calibri"/>
              </a:rPr>
              <a:t>Field engineers currently rely on manual visual trace overlays and scalar indices (CC, ASLE) that cannot reliably distinguish operational noise from real structural damage.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IntelliFRA Solution: </a:t>
            </a:r>
            <a:r>
              <a:rPr sz="1250">
                <a:solidFill>
                  <a:srgbClr val="333333"/>
                </a:solidFill>
                <a:latin typeface="Calibri"/>
              </a:rPr>
              <a:t>An open-source AI platform integrating 1D-CNN severity classification, Autoencoder anomaly gating, and interactive web visualization for real-time substation triage.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493776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 i="1">
                <a:latin typeface="Calibri"/>
              </a:defRPr>
            </a:pPr>
            <a:r>
              <a:t>Fig. 1: IntelliFRA Interactive Web Diagnostic View (500-pt Recharts trace &amp; CEA recommendations)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374904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05156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>
                <a:solidFill>
                  <a:srgbClr val="222222"/>
                </a:solidFill>
                <a:latin typeface="Calibri"/>
              </a:defRPr>
            </a:pPr>
            <a:r>
              <a:t>To design, develop, and benchmark an automated, end-to-end AI diagnostic platform capable of ingesting raw SFRA magnitude files (CSV/TXT), standardizing variable frequency samples, classifying winding mechanical faults into four severity grades with high accuracy, and detecting out-of-distribution anomalous signatures without requiring historical baseline curves—all executing with sub-millisecond CPU latency across an authenticated web application.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 b="1">
                <a:solidFill>
                  <a:srgbClr val="1B365D"/>
                </a:solidFill>
                <a:latin typeface="Calibri"/>
              </a:rPr>
              <a:t>Grid Reliability &amp; Financial Impact: </a:t>
            </a:r>
            <a:r>
              <a:rPr sz="1150">
                <a:solidFill>
                  <a:srgbClr val="333333"/>
                </a:solidFill>
                <a:latin typeface="Calibri"/>
              </a:rPr>
              <a:t>Manufacturing lead times for transmission transformers exceed 12 months. Early mechanical detection prevents catastrophic dielectric breakdown and millions in equipment replacement costs.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Inadequacy of Traditional Metrics: </a:t>
            </a:r>
            <a:r>
              <a:rPr sz="1150">
                <a:solidFill>
                  <a:srgbClr val="333333"/>
                </a:solidFill>
                <a:latin typeface="Calibri"/>
              </a:rPr>
              <a:t>Scalar indices (CC, ASLE) require manual cutoff threshold tuning per transformer family, often failing to separate operational noise from true physical faults.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Closed-Set ML Fragility: </a:t>
            </a:r>
            <a:r>
              <a:rPr sz="1150">
                <a:solidFill>
                  <a:srgbClr val="333333"/>
                </a:solidFill>
                <a:latin typeface="Calibri"/>
              </a:rPr>
              <a:t>Standard supervised neural networks blindly force every input into predefined training labels; unsupervised anomaly gating is critical to detect unknown winding topologies.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Operational Need: </a:t>
            </a:r>
            <a:r>
              <a:rPr sz="1150">
                <a:solidFill>
                  <a:srgbClr val="333333"/>
                </a:solidFill>
                <a:latin typeface="Calibri"/>
              </a:rPr>
              <a:t>Substation crews need an instant screening tool to immediately greenlight healthy units and escalate genuine fault signatures without waiting weeks for expert report overlays.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17957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9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05156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>
                <a:solidFill>
                  <a:srgbClr val="222222"/>
                </a:solidFill>
                <a:latin typeface="Calibri"/>
              </a:defRPr>
            </a:pPr>
            <a:r>
              <a:t>To simulate and generate a physics-informed synthetic dataset of 50,000 SFRA curves across six degradation archetypes (NF, DLF, LCF, RDF, IDF, SCF) on a logarithmic frequency grid (1 kHz–2 MHz).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4825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9202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>
                <a:solidFill>
                  <a:srgbClr val="222222"/>
                </a:solidFill>
                <a:latin typeface="Calibri"/>
              </a:defRPr>
            </a:pPr>
            <a:r>
              <a:t>To design and train a dual-AI diagnostic pipeline: a 140,644-parameter 1D-CNN for severity classification and a 312,532-parameter dense Autoencoder for unsupervised out-of-distribution anomaly gating.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1693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8892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>
                <a:solidFill>
                  <a:srgbClr val="222222"/>
                </a:solidFill>
                <a:latin typeface="Calibri"/>
              </a:defRPr>
            </a:pPr>
            <a:r>
              <a:t>To implement multi-tiered fail-safe guardrails: incorporating discrete first-difference morphological filters (smoothness, monotonicity, peak counts) and deterministic FFT spectral fallbacks.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85616"/>
            <a:ext cx="457200" cy="45720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5760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>
                <a:solidFill>
                  <a:srgbClr val="222222"/>
                </a:solidFill>
                <a:latin typeface="Calibri"/>
              </a:defRPr>
            </a:pPr>
            <a:r>
              <a:t>To deploy an auditable, authenticated web platform (FastAPI + React 19 + SQLite) providing sub-millisecond CPU execution, interactive Recharts visualization, and tenant data isolation.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828800"/>
                <a:gridCol w="1280160"/>
                <a:gridCol w="109728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Ryder (2003) [1]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SFRA principles &amp; scalar indicators (CC, ASLE)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Field utility transformer sweeps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Establishes baseline transfer-function mapping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Sensitive to test-lead noise; requires subjective human thresholds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Shintemirov et al. (2010) [3]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Sub-band correlation &amp; evidential reasoning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Lab winding models &amp; simulation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Improved condition grading across discrete sub-bands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Fails on compound multi-mode deformations; rigid sub-band boundaries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Secue &amp; Mombello (2008) [11]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Resonance pole tracking &amp; band deviation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Physical test transformers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Classified axial vs. radial winding deformations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Requires historical baseline from the identical physical unit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Ince, Kiranyaz et al. (2016) [15]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1D-CNN on raw waveforms without manual features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Motor current benchmark waveforms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Adaptive localized spectral feature learning from raw data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Evaluated solely on motor drives; not applied to transformer SFRA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Calibri"/>
                        </a:defRPr>
                      </a:pPr>
                      <a:r>
                        <a:t>Phillip, Singh &amp; Ramlal (2025) [6, 10]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Deep learning for narrow-band transformer FRA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Simulated &amp; narrow-band field data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High classification accuracy on isolated frequency bands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Closed-set only; lacks anomaly gating, web interface &amp; fail-safes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Identified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Closed-Set Classifier Fragility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200">
                <a:latin typeface="Calibri"/>
              </a:defRPr>
            </a:pPr>
            <a:r>
              <a:t>Supervised models force all inputs into predefined training categories, blindly misclassifying unfamiliar winding topologies, sensor noise, or unmodeled failure modes as normal or wrong fault grades.</a:t>
            </a:r>
          </a:p>
        </p:txBody>
      </p:sp>
      <p:sp>
        <p:nvSpPr>
          <p:cNvPr id="8" name="Shape 6"/>
          <p:cNvSpPr/>
          <p:nvPr/>
        </p:nvSpPr>
        <p:spPr>
          <a:xfrm>
            <a:off x="3273552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1325880"/>
            <a:ext cx="502920" cy="50292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Hand-Crafted Feature Dependency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3547872" y="2377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200">
                <a:latin typeface="Calibri"/>
              </a:defRPr>
            </a:pPr>
            <a:r>
              <a:t>Conventional techniques rely on rigid sub-band segmentation or scalar metrics (ASLE, CC) that require manual threshold tuning and fail to generalize across different MVA ratings and voltage classes.</a:t>
            </a:r>
          </a:p>
        </p:txBody>
      </p:sp>
      <p:sp>
        <p:nvSpPr>
          <p:cNvPr id="13" name="Shape 11"/>
          <p:cNvSpPr/>
          <p:nvPr/>
        </p:nvSpPr>
        <p:spPr>
          <a:xfrm>
            <a:off x="6089904" y="10972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325880"/>
            <a:ext cx="502920" cy="50292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Lack of Production-Ready Systems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364224" y="2377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200">
                <a:latin typeface="Calibri"/>
              </a:defRPr>
            </a:pPr>
            <a:r>
              <a:t>Prior studies stop at offline Jupyter notebooks without building an auditable, end-to-end deployable platform with fail-safe fallbacks, sub-millisecond CPU latency, and interactive visualization for field crews.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latin typeface="Calibri"/>
              </a:defRPr>
            </a:pPr>
            <a:r>
              <a:t>Input Ingestion</a:t>
            </a:r>
          </a:p>
          <a:p>
            <a:pPr>
              <a:defRPr sz="950">
                <a:latin typeface="Calibri"/>
              </a:defRPr>
            </a:pPr>
            <a:r>
              <a:t>• CSV / TXT format auto-detect</a:t>
            </a:r>
          </a:p>
          <a:p>
            <a:pPr>
              <a:defRPr sz="950">
                <a:latin typeface="Calibri"/>
              </a:defRPr>
            </a:pPr>
            <a:r>
              <a:t>• Minimum 50 valid float points</a:t>
            </a:r>
          </a:p>
          <a:p>
            <a:pPr>
              <a:defRPr sz="950">
                <a:latin typeface="Calibri"/>
              </a:defRPr>
            </a:pPr>
            <a:r>
              <a:t>• Memory-bounded parsing</a:t>
            </a:r>
          </a:p>
        </p:txBody>
      </p:sp>
      <p:sp>
        <p:nvSpPr>
          <p:cNvPr id="5" name="Shape 3"/>
          <p:cNvSpPr/>
          <p:nvPr/>
        </p:nvSpPr>
        <p:spPr>
          <a:xfrm>
            <a:off x="1865376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67128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67128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latin typeface="Calibri"/>
              </a:defRPr>
            </a:pPr>
            <a:r>
              <a:t>Preprocessing</a:t>
            </a:r>
          </a:p>
          <a:p>
            <a:pPr>
              <a:defRPr sz="950">
                <a:latin typeface="Calibri"/>
              </a:defRPr>
            </a:pPr>
            <a:r>
              <a:t>• Edge-value pad to 500 points</a:t>
            </a:r>
          </a:p>
          <a:p>
            <a:pPr>
              <a:defRPr sz="950">
                <a:latin typeface="Calibri"/>
              </a:defRPr>
            </a:pPr>
            <a:r>
              <a:t>• Per-sample Z-Score scaling</a:t>
            </a:r>
          </a:p>
          <a:p>
            <a:pPr>
              <a:defRPr sz="950">
                <a:latin typeface="Calibri"/>
              </a:defRPr>
            </a:pPr>
            <a:r>
              <a:t>• Eliminates MVA gain offsets</a:t>
            </a:r>
          </a:p>
        </p:txBody>
      </p:sp>
      <p:sp>
        <p:nvSpPr>
          <p:cNvPr id="8" name="Shape 6"/>
          <p:cNvSpPr/>
          <p:nvPr/>
        </p:nvSpPr>
        <p:spPr>
          <a:xfrm>
            <a:off x="3575304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77056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7056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latin typeface="Calibri"/>
              </a:defRPr>
            </a:pPr>
            <a:r>
              <a:t>Dual-AI Engine</a:t>
            </a:r>
          </a:p>
          <a:p>
            <a:pPr>
              <a:defRPr sz="950">
                <a:latin typeface="Calibri"/>
              </a:defRPr>
            </a:pPr>
            <a:r>
              <a:t>• 1D-CNN (140k params; 4 classes)</a:t>
            </a:r>
          </a:p>
          <a:p>
            <a:pPr>
              <a:defRPr sz="950">
                <a:latin typeface="Calibri"/>
              </a:defRPr>
            </a:pPr>
            <a:r>
              <a:t>• Autoencoder (312k params; anomaly)</a:t>
            </a:r>
          </a:p>
          <a:p>
            <a:pPr>
              <a:defRPr sz="950">
                <a:latin typeface="Calibri"/>
              </a:defRPr>
            </a:pPr>
            <a:r>
              <a:t>• Zero missed critical faults</a:t>
            </a:r>
          </a:p>
        </p:txBody>
      </p:sp>
      <p:sp>
        <p:nvSpPr>
          <p:cNvPr id="11" name="Shape 9"/>
          <p:cNvSpPr/>
          <p:nvPr/>
        </p:nvSpPr>
        <p:spPr>
          <a:xfrm>
            <a:off x="5285232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86984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86984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latin typeface="Calibri"/>
              </a:defRPr>
            </a:pPr>
            <a:r>
              <a:t>Multi-Tier Guardrails</a:t>
            </a:r>
          </a:p>
          <a:p>
            <a:pPr>
              <a:defRPr sz="950">
                <a:latin typeface="Calibri"/>
              </a:defRPr>
            </a:pPr>
            <a:r>
              <a:t>• Morphological shape filters</a:t>
            </a:r>
          </a:p>
          <a:p>
            <a:pPr>
              <a:defRPr sz="950">
                <a:latin typeface="Calibri"/>
              </a:defRPr>
            </a:pPr>
            <a:r>
              <a:t>• Monotonicity &amp; peak checks</a:t>
            </a:r>
          </a:p>
          <a:p>
            <a:pPr>
              <a:defRPr sz="950">
                <a:latin typeface="Calibri"/>
              </a:defRPr>
            </a:pPr>
            <a:r>
              <a:t>• Deterministic FFT fallback</a:t>
            </a:r>
          </a:p>
        </p:txBody>
      </p:sp>
      <p:sp>
        <p:nvSpPr>
          <p:cNvPr id="14" name="Shape 12"/>
          <p:cNvSpPr/>
          <p:nvPr/>
        </p:nvSpPr>
        <p:spPr>
          <a:xfrm>
            <a:off x="6995160" y="2377440"/>
            <a:ext cx="265176" cy="0"/>
          </a:xfrm>
          <a:prstGeom prst="line">
            <a:avLst/>
          </a:prstGeom>
          <a:noFill/>
          <a:ln w="25400">
            <a:solidFill>
              <a:srgbClr val="3931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96912" y="19202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EEDF7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latin typeface="Calibri"/>
              </a:defRPr>
            </a:pPr>
            <a:r>
              <a:t>Storage &amp; UI Dashboard</a:t>
            </a:r>
          </a:p>
          <a:p>
            <a:pPr>
              <a:defRPr sz="950">
                <a:latin typeface="Calibri"/>
              </a:defRPr>
            </a:pPr>
            <a:r>
              <a:t>• FastAPI async REST endpoints</a:t>
            </a:r>
          </a:p>
          <a:p>
            <a:pPr>
              <a:defRPr sz="950">
                <a:latin typeface="Calibri"/>
              </a:defRPr>
            </a:pPr>
            <a:r>
              <a:t>• SQLite tenant-isolated DB</a:t>
            </a:r>
          </a:p>
          <a:p>
            <a:pPr>
              <a:defRPr sz="950">
                <a:latin typeface="Calibri"/>
              </a:defRPr>
            </a:pPr>
            <a:r>
              <a:t>• React 19 &amp; Recharts UI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i="1">
                <a:latin typeface="Calibri"/>
              </a:defRPr>
            </a:pPr>
            <a:r>
              <a:t>Fig. 2: IntelliFRA End-to-End Five-Stage Ingestion, Inference, and Triage Architecture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566160"/>
            <a:ext cx="32918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34440" y="2011680"/>
            <a:ext cx="6675120" cy="0"/>
          </a:xfrm>
          <a:prstGeom prst="line">
            <a:avLst/>
          </a:prstGeom>
          <a:noFill/>
          <a:ln w="25400">
            <a:solidFill>
              <a:srgbClr val="B9B6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Physics-Based Data Synthesis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0292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Stochastic lumped-mode generator spanning 1 kHz–2 MHz. Superimposes 8–12 Lorentzian modes across 6 physical fault archetypes (50,000 curves total).</a:t>
            </a:r>
          </a:p>
        </p:txBody>
      </p:sp>
      <p:sp>
        <p:nvSpPr>
          <p:cNvPr id="8" name="Shape 6"/>
          <p:cNvSpPr/>
          <p:nvPr/>
        </p:nvSpPr>
        <p:spPr>
          <a:xfrm>
            <a:off x="262890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89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7170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Standardization &amp; Preprocessing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217170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Robust CSV/TXT parsing, boundary edge-value replication to 500 samples, and independent per-sample z-score normalization (μ=0, σ=1, ε=1e-6).</a:t>
            </a:r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Dual Neural Architecture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384048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1D-CNN (140,644 parameters) with 3 Conv blocks and Dropout (p=0.2) + Dense Autoencoder (312,532 parameters) trained strictly on healthy baselines.</a:t>
            </a:r>
          </a:p>
        </p:txBody>
      </p:sp>
      <p:sp>
        <p:nvSpPr>
          <p:cNvPr id="16" name="Shape 14"/>
          <p:cNvSpPr/>
          <p:nvPr/>
        </p:nvSpPr>
        <p:spPr>
          <a:xfrm>
            <a:off x="596646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664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092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Training &amp; Validation Rigor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550926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PyTorch, Adam (lr=1e-3, 20 epochs), 80:20 split (40k/10k). Supplementary 5-fold cross-validation on 12k uncapped sweeps and shifted OOD test set.</a:t>
            </a:r>
          </a:p>
        </p:txBody>
      </p:sp>
      <p:sp>
        <p:nvSpPr>
          <p:cNvPr id="20" name="Shape 18"/>
          <p:cNvSpPr/>
          <p:nvPr/>
        </p:nvSpPr>
        <p:spPr>
          <a:xfrm>
            <a:off x="7635240" y="1737360"/>
            <a:ext cx="548640" cy="548640"/>
          </a:xfrm>
          <a:prstGeom prst="ellipse">
            <a:avLst/>
          </a:prstGeom>
          <a:solidFill>
            <a:srgbClr val="393185"/>
          </a:solidFill>
          <a:ln w="12700">
            <a:solidFill>
              <a:srgbClr val="3931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Guardrails &amp; Production UI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7178040" y="29900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Morphological filters (smoothness, monotonicity, peak counts) + FFT fallback, integrated into FastAPI REST API and React 19 interactive Recharts UI.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Tools Used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IntelliFRA Physics-Synthesized SFRA Corpus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Physics-informed stochastic lumped-mode generator (1 kHz–2 MHz)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No. of samples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50,000 curves (12,500 per operational severity class)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No. of classes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 Classes: Normal, Minor Deviation, Moderate Fault, High Fault Risk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Train / Test split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80:20 Split (40,000 Train / 10,000 Validation) + 5-Fold CV (12,000 sweeps)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00" b="1">
                <a:solidFill>
                  <a:srgbClr val="1B365D"/>
                </a:solidFill>
                <a:latin typeface="Calibri"/>
              </a:rPr>
              <a:t>Languages &amp; AI Frameworks: </a:t>
            </a:r>
            <a:r>
              <a:rPr sz="1050">
                <a:latin typeface="Calibri"/>
              </a:rPr>
              <a:t>Python 3.10, PyTorch, Scikit-learn, NumPy, SciPy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365D"/>
                </a:solidFill>
                <a:latin typeface="Calibri"/>
              </a:rPr>
              <a:t>Backend &amp; Storage: </a:t>
            </a:r>
            <a:r>
              <a:rPr sz="1050">
                <a:latin typeface="Calibri"/>
              </a:rPr>
              <a:t>FastAPI (asynchronous REST), SQLAlchemy, SQLite, Pydantic, Uvicorn, Bcrypt, JWT Authentication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365D"/>
                </a:solidFill>
                <a:latin typeface="Calibri"/>
              </a:rPr>
              <a:t>Frontend &amp; Visualization: </a:t>
            </a:r>
            <a:r>
              <a:rPr sz="1050">
                <a:latin typeface="Calibri"/>
              </a:rPr>
              <a:t>React 19, Vite, Tailwind CSS, Recharts, Framer Motion, Lucide Icons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365D"/>
                </a:solidFill>
                <a:latin typeface="Calibri"/>
              </a:rPr>
              <a:t>Optimization &amp; Metrics: </a:t>
            </a:r>
            <a:r>
              <a:rPr sz="1050">
                <a:latin typeface="Calibri"/>
              </a:rPr>
              <a:t>Adam optimizer (lr=1e-3), Cross-Entropy &amp; MSE loss, single-core CPU latency profiling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943600" y="10058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0789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1B365D"/>
                </a:solidFill>
                <a:latin typeface="Cambria"/>
              </a:defRPr>
            </a:pPr>
            <a:r>
              <a:t>94.41%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126480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solidFill>
                  <a:srgbClr val="444444"/>
                </a:solidFill>
                <a:latin typeface="Calibri"/>
              </a:defRPr>
            </a:pPr>
            <a:r>
              <a:t>1D-CNN Validation Accuracy</a:t>
            </a:r>
          </a:p>
          <a:p>
            <a:r>
              <a:t>(Macro F1 = 0.9443; Support = 10,000)</a:t>
            </a:r>
          </a:p>
        </p:txBody>
      </p:sp>
      <p:sp>
        <p:nvSpPr>
          <p:cNvPr id="7" name="Shape 4"/>
          <p:cNvSpPr/>
          <p:nvPr/>
        </p:nvSpPr>
        <p:spPr>
          <a:xfrm>
            <a:off x="5943600" y="2212848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1B365D"/>
                </a:solidFill>
                <a:latin typeface="Cambria"/>
              </a:defRPr>
            </a:pPr>
            <a:r>
              <a:t>98.47%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126480" y="2871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solidFill>
                  <a:srgbClr val="444444"/>
                </a:solidFill>
                <a:latin typeface="Calibri"/>
              </a:defRPr>
            </a:pPr>
            <a:r>
              <a:t>Autoencoder Anomaly Accuracy</a:t>
            </a:r>
          </a:p>
          <a:p>
            <a:r>
              <a:t>(100% Fault Recall across 7,497 faults)</a:t>
            </a:r>
          </a:p>
        </p:txBody>
      </p:sp>
      <p:sp>
        <p:nvSpPr>
          <p:cNvPr id="10" name="Shape 7"/>
          <p:cNvSpPr/>
          <p:nvPr/>
        </p:nvSpPr>
        <p:spPr>
          <a:xfrm>
            <a:off x="5943600" y="341985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493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1B365D"/>
                </a:solidFill>
                <a:latin typeface="Cambria"/>
              </a:defRPr>
            </a:pPr>
            <a:r>
              <a:t>0.274 ms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612648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solidFill>
                  <a:srgbClr val="444444"/>
                </a:solidFill>
                <a:latin typeface="Calibri"/>
              </a:defRPr>
            </a:pPr>
            <a:r>
              <a:t>Full-Pipeline CPU Latency</a:t>
            </a:r>
          </a:p>
          <a:p>
            <a:r>
              <a:t>(Sub-millisecond real-time triage)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60120"/>
            <a:ext cx="512064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Methods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18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Proposed 1D-CNN (IntelliFRA)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81.03% (94.41%*)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82.80% (94.43%*)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81.90% (94.41%*)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82.34% (94.43%*)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Random Forest (100 trees, depth 15)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72.57% ± 1.05%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73.50%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72.60%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73.00%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SVM (RBF Kernel, C=1.0)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66.13% ± 0.65%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67.80%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66.20%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67.20%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Multilayer Perceptron (MLP 128-64)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64.95% ± 0.94%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65.90%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64.90%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latin typeface="Calibri"/>
                        </a:defRPr>
                      </a:pPr>
                      <a:r>
                        <a:t>65.30%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 i="1">
                <a:latin typeface="Calibri"/>
              </a:defRPr>
            </a:pPr>
            <a:r>
              <a:t>* Benchmark on 12,000 uncapped sweeps under 5-fold stratified cross-validation; 94.41% accuracy on the 10,000-sweep held-out split. On a separate shifted test set (±15% pole shift, heavy noise), 1D-CNN leads with 56.88% (vs. RF 51.21%, SVM 50.83%, MLP 49.33%).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005840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  <a:defRPr sz="1700" b="1">
                <a:solidFill>
                  <a:srgbClr val="1B365D"/>
                </a:solidFill>
                <a:latin typeface="Calibri"/>
              </a:defRPr>
            </a:pPr>
            <a:r>
              <a:t>Conclusion</a:t>
            </a:r>
            <a:endParaRPr lang="en-US" sz="1500" dirty="0"/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t>• Automated Triage: Successfully engineered an intelligent web platform that removes human subjectivity and manual overlay bottlenecks in transformer SFRA testing.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t>• High Classification &amp; Zero-Miss Recall: 1D-CNN achieves 94.41% validation accuracy, while the Autoencoder flags anomalies with 98.47% accuracy and 100% recall on faulty sweeps.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t>• Sub-Millisecond Inference: Full-pipeline CPU execution in 0.274 ms with multi-tiered morphological filters and deterministic FFT spectral energy fail-safes.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t>• Complete B.Tech. Objective Fulfillment: All project objectives completed, delivering a deployable, open-source React/FastAPI tool for power utilities.</a:t>
            </a:r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754880" y="1005840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  <a:defRPr sz="1700" b="1">
                <a:solidFill>
                  <a:srgbClr val="1B365D"/>
                </a:solidFill>
                <a:latin typeface="Calibri"/>
              </a:defRPr>
            </a:pPr>
            <a:r>
              <a:t>Future Scope</a:t>
            </a:r>
            <a:endParaRPr lang="en-US" sz="1500" dirty="0"/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t>• Utility Field Fine-Tuning: Transfer learning and domain adaptation on measured substation SFRA recordings (IEEE DataPort and Indian utility fleets).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t>• Automated Inspection Reports: Adding one-click PDF engineering diagnostic report generation and automated three-phase baseline curve overlays.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t>• Adaptive Envelopes &amp; Lab Testbed: Upgrading heuristic shape overrides with adaptive envelope trackers and physical laboratory winding testbed validation.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 &amp; Competitions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Paper(s)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300">
                <a:solidFill>
                  <a:srgbClr val="222222"/>
                </a:solidFill>
                <a:latin typeface="Calibri"/>
              </a:defRPr>
            </a:pPr>
            <a:r>
              <a:t>Harini Panigrahi, Neha Verma, Prapti Bhayde, Yooraj Gole, and Bhanu Tekwani*,</a:t>
            </a:r>
            <a:br/>
            <a:r>
              <a:t>“IntelliFRA: An AI-Based Platform for Automated Transformer Fault Analysis,”</a:t>
            </a:r>
            <a:br/>
            <a:r>
              <a:t>International Conference on Trends in Electrical, Electronics and Computer Systems (ITEECS 2025).</a:t>
            </a:r>
            <a:br/>
            <a:r>
              <a:t>(Status: Submitted / Under Review | Length: ~8.5 pages)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EEDF7"/>
          </a:solidFill>
          <a:ln w="12700">
            <a:solidFill>
              <a:srgbClr val="EEED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3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defRPr sz="1200">
                <a:solidFill>
                  <a:srgbClr val="222222"/>
                </a:solidFill>
                <a:latin typeface="Calibri"/>
              </a:defRPr>
            </a:pPr>
            <a:r>
              <a:t>• Final Year Capstone Project, Department of Information Technology, Vidyalankar Institute of Technology, Mumbai (Academic Year 2024–25).</a:t>
            </a:r>
            <a:br/>
            <a:r>
              <a:t>• Selected for Institutional B.Tech. Final Review Showcase and Research Presentation.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93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  <a:defRPr sz="1200">
                <a:latin typeface="Calibri"/>
              </a:defRPr>
            </a:pPr>
            <a:r>
              <a:t>[1] S. A. Ryder, “Diagnosing Transformer Faults Using Frequency Response Analysis,” IEEE Electrical Insulation Magazine, vol. 19, no. 2, pp. 16–22, 2003.</a:t>
            </a:r>
            <a:endParaRPr lang="en-US" sz="1600" dirty="0"/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[2] IEC 60076-18, “Power Transformers - Part 18: Measurement of Frequency Response,” International Electrotechnical Commission (IEC), Geneva, Switzerland, 2012.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[3] T. Ince, S. Kiranyaz et al., “Real-Time Motor Fault Detection by 1-D Convolutional Neural Networks,” IEEE Trans. Ind. Electron., vol. 63, no. 11, pp. 7067–7075, 2016.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[4] M. Sakurada and T. Yairi, “Anomaly Detection Using Autoencoders with Nonlinear Dimensionality Reduction,” in Proc. MLSDA, Gold Coast, Australia, pp. 4–11, 2014.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[5] M. Phillip, A. Singh, and C. J. Ramlal, “Towards Automated Frequency Response Analysis of Power Transformers with Deep Learning,” Applied Artificial Intelligence, vol. 39, no. 1, 2025.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F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 b="1">
                <a:solidFill>
                  <a:srgbClr val="1B365D"/>
                </a:solidFill>
                <a:latin typeface="Calibri"/>
              </a:defRPr>
            </a:pPr>
            <a:r>
              <a:t>Department of Information Technology  |  Vidyalankar Institute of Technology, Mumbai</a:t>
            </a:r>
            <a:endParaRPr lang="en-US" sz="1200" dirty="0"/>
          </a:p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Project Team: Harini Panigrahi, Neha Verma, Prapti Bhayde, Yooraj Gole  |  Guide: Prof. Bhanu Tekwani (bhanu.tekwani@vit.edu.in)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Vidyalankar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B.Tech. Final Year Project Presentation Template</dc:title>
  <dc:subject>PptxGenJS Presentation</dc:subject>
  <dc:creator>PptxGenJS</dc:creator>
  <cp:lastModifiedBy>PptxGenJS</cp:lastModifiedBy>
  <cp:revision>1</cp:revision>
  <dcterms:created xsi:type="dcterms:W3CDTF">2026-09-26T10:38:11Z</dcterms:created>
  <dcterms:modified xsi:type="dcterms:W3CDTF">2026-09-26T10:38:11Z</dcterms:modified>
</cp:coreProperties>
</file>